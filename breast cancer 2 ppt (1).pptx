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F34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/>
        </p:nvSpPr>
        <p:spPr>
          <a:xfrm>
            <a:off x="731520" y="1005840"/>
            <a:ext cx="1069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BREAST CANCER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31520" y="1737360"/>
            <a:ext cx="10698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BED7F5"/>
                </a:solidFill>
                <a:latin typeface="Arial"/>
                <a:ea typeface="Arial"/>
                <a:cs typeface="Arial"/>
                <a:sym typeface="Arial"/>
              </a:rPr>
              <a:t>Classification Using Neural Network</a:t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731520" y="2743200"/>
            <a:ext cx="960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Machine Learning Project • Python • TensorFlow / Keras • Google Colab</a:t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731520" y="4023360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 </a:t>
            </a:r>
            <a:r>
              <a:rPr b="1" lang="en-US" sz="2000">
                <a:solidFill>
                  <a:srgbClr val="FFFFFF"/>
                </a:solidFill>
              </a:rPr>
              <a:t>Swapnali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Sathe</a:t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731520" y="45720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EC8D7"/>
                </a:solidFill>
                <a:latin typeface="Arial"/>
                <a:ea typeface="Arial"/>
                <a:cs typeface="Arial"/>
                <a:sym typeface="Arial"/>
              </a:rPr>
              <a:t>Actual notebook code • actual outputs • actual training graphs</a:t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9784080" y="589788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91425" spcFirstLastPara="1" rIns="91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B9CD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07592"/>
            <a:ext cx="213969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45920"/>
            <a:ext cx="213969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21991"/>
            <a:ext cx="213969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430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307592"/>
            <a:ext cx="213969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645920"/>
            <a:ext cx="213969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21991"/>
            <a:ext cx="213969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1430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1307592"/>
            <a:ext cx="213969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1" y="1645920"/>
            <a:ext cx="213969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455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221991"/>
            <a:ext cx="213969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1430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1307592"/>
            <a:ext cx="213969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1645920"/>
            <a:ext cx="213969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221991"/>
            <a:ext cx="213969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10515600" cy="41148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800" b="1">
                <a:solidFill>
                  <a:srgbClr val="141F34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10515600" cy="68580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900" b="0">
                <a:solidFill>
                  <a:srgbClr val="23272D"/>
                </a:solidFill>
                <a:latin typeface="Aptos"/>
              </a:defRPr>
            </a:pPr>
            <a:r>
              <a:t>Build a Neural Network classification workflow that uses diagnostic measurements to classify tumor cases into Malignant or Benign categories.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600" b="1">
                <a:solidFill>
                  <a:srgbClr val="141F34"/>
                </a:solidFill>
                <a:latin typeface="Aptos"/>
              </a:defRPr>
            </a:pPr>
            <a:r>
              <a:t>Notebook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56048"/>
            <a:ext cx="10515600" cy="45720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800" b="1">
                <a:solidFill>
                  <a:srgbClr val="2D67AA"/>
                </a:solidFill>
                <a:latin typeface="Aptos"/>
              </a:defRPr>
            </a:pPr>
            <a:r>
              <a:t>Load data  →  Explore  →  Split  →  Standardize  →  Build model  →  Train  →  Evaluate  →  Predict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Actual Code — Import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03</a:t>
            </a:r>
          </a:p>
        </p:txBody>
      </p:sp>
      <p:pic>
        <p:nvPicPr>
          <p:cNvPr id="5" name="Picture 4" descr="01_import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486400" cy="5349240"/>
          </a:xfrm>
          <a:prstGeom prst="rect">
            <a:avLst/>
          </a:prstGeom>
        </p:spPr>
      </p:pic>
      <p:pic>
        <p:nvPicPr>
          <p:cNvPr id="6" name="Picture 5" descr="02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914400"/>
            <a:ext cx="5468112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355080"/>
            <a:ext cx="5120640" cy="22860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Exact imports from the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6355080"/>
            <a:ext cx="5029200" cy="22860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Exact dataset/DataFrame code from the notebook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Dataset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4572000" cy="219456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2D"/>
                </a:solidFill>
                <a:latin typeface="Aptos"/>
              </a:defRPr>
            </a:pPr>
            <a:r>
              <a:t>Scikit-learn breast cancer dataset</a:t>
            </a:r>
          </a:p>
          <a:p>
            <a:pPr>
              <a:spcAft>
                <a:spcPts val="800"/>
              </a:spcAft>
              <a:defRPr sz="1800">
                <a:solidFill>
                  <a:srgbClr val="23272D"/>
                </a:solidFill>
                <a:latin typeface="Aptos"/>
              </a:defRPr>
            </a:pPr>
            <a:r>
              <a:t>569 records and 30 numerical features</a:t>
            </a:r>
          </a:p>
          <a:p>
            <a:pPr>
              <a:spcAft>
                <a:spcPts val="800"/>
              </a:spcAft>
              <a:defRPr sz="1800">
                <a:solidFill>
                  <a:srgbClr val="23272D"/>
                </a:solidFill>
                <a:latin typeface="Aptos"/>
              </a:defRPr>
            </a:pPr>
            <a:r>
              <a:t>31 DataFrame columns after adding the label</a:t>
            </a:r>
          </a:p>
          <a:p>
            <a:pPr>
              <a:spcAft>
                <a:spcPts val="800"/>
              </a:spcAft>
              <a:defRPr sz="1800">
                <a:solidFill>
                  <a:srgbClr val="23272D"/>
                </a:solidFill>
                <a:latin typeface="Aptos"/>
              </a:defRPr>
            </a:pPr>
            <a:r>
              <a:t>Missing-value check and descriptive statistics were executed in Colab</a:t>
            </a:r>
          </a:p>
        </p:txBody>
      </p:sp>
      <p:pic>
        <p:nvPicPr>
          <p:cNvPr id="6" name="Picture 5" descr="03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576072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3794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959352"/>
            <a:ext cx="223113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LABEL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297680"/>
            <a:ext cx="223113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Malignant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873752"/>
            <a:ext cx="223113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target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794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3959352"/>
            <a:ext cx="223113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LABEL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4297680"/>
            <a:ext cx="223113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Benign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4873752"/>
            <a:ext cx="223113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target 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349240"/>
            <a:ext cx="5349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513831"/>
            <a:ext cx="5020055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DATA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852159"/>
            <a:ext cx="5020055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80:20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6428231"/>
            <a:ext cx="5020055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455 train / 114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Train-Test Split &amp; Standardization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05</a:t>
            </a:r>
          </a:p>
        </p:txBody>
      </p:sp>
      <p:pic>
        <p:nvPicPr>
          <p:cNvPr id="5" name="Picture 4" descr="03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532120" cy="5166360"/>
          </a:xfrm>
          <a:prstGeom prst="rect">
            <a:avLst/>
          </a:prstGeom>
        </p:spPr>
      </p:pic>
      <p:pic>
        <p:nvPicPr>
          <p:cNvPr id="6" name="Picture 5" descr="04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960120"/>
            <a:ext cx="5468112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5212080" cy="256032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Actual split output: (569, 30) (455, 30) (114, 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6272784"/>
            <a:ext cx="5029200" cy="256032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StandardScaler: fit on training data, transform test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Neural Network — Actual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06</a:t>
            </a:r>
          </a:p>
        </p:txBody>
      </p:sp>
      <p:pic>
        <p:nvPicPr>
          <p:cNvPr id="5" name="Picture 4" descr="05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15568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82512"/>
            <a:ext cx="10789920" cy="22860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Architecture in the notebook: Flatten(30) → Dense(20, ReLU) → Dense(2, sigmoid) • Optimizer: Adam • Loss: sparse_categorical_crossentropy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Actual Training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07</a:t>
            </a:r>
          </a:p>
        </p:txBody>
      </p:sp>
      <p:pic>
        <p:nvPicPr>
          <p:cNvPr id="5" name="Picture 4" descr="06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15568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82512"/>
            <a:ext cx="10789920" cy="22860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10 epochs • validation_split = 0.1 • output reproduced from the notebook training cell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Training Accuracy — Actual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08</a:t>
            </a:r>
          </a:p>
        </p:txBody>
      </p:sp>
      <p:pic>
        <p:nvPicPr>
          <p:cNvPr id="5" name="Picture 4" descr="FINAL_accuracy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987552"/>
            <a:ext cx="106984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08192"/>
            <a:ext cx="10652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6505F"/>
                </a:solidFill>
                <a:latin typeface="Aptos"/>
              </a:defRPr>
            </a:pPr>
            <a:r>
              <a:t>Epoch 10 → Training Accuracy: 97.16% | Validation Accuracy: 95.65%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Training Loss — Actual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09</a:t>
            </a:r>
          </a:p>
        </p:txBody>
      </p:sp>
      <p:pic>
        <p:nvPicPr>
          <p:cNvPr id="5" name="Picture 4" descr="FINAL_loss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987552"/>
            <a:ext cx="106984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08192"/>
            <a:ext cx="10652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6505F"/>
                </a:solidFill>
                <a:latin typeface="Aptos"/>
              </a:defRPr>
            </a:pPr>
            <a:r>
              <a:t>Epoch 10 → Training Loss: 0.1176 | Validation Loss: 0.1163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Model Evaluation — Actual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10</a:t>
            </a:r>
          </a:p>
        </p:txBody>
      </p:sp>
      <p:pic>
        <p:nvPicPr>
          <p:cNvPr id="5" name="Picture 4" descr="07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58368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234440"/>
            <a:ext cx="3657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25512" y="1399032"/>
            <a:ext cx="332841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2" y="1737360"/>
            <a:ext cx="332841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0805A"/>
                </a:solidFill>
                <a:latin typeface="Aptos"/>
              </a:defRPr>
            </a:pPr>
            <a:r>
              <a:t>96.49%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2313432"/>
            <a:ext cx="332841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0.9649122953414917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971800"/>
            <a:ext cx="3657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3136392"/>
            <a:ext cx="332841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TEST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3474720"/>
            <a:ext cx="332841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4050791"/>
            <a:ext cx="332841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held-out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617720"/>
            <a:ext cx="3566160" cy="64008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500" b="0">
                <a:solidFill>
                  <a:srgbClr val="23272D"/>
                </a:solidFill>
                <a:latin typeface="Aptos"/>
              </a:defRPr>
            </a:pPr>
            <a:r>
              <a:t>The evaluation output is directly from model.evaluate(X_test_std, Y_test).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Prediction Probabilities — Actual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08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67512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1143000"/>
            <a:ext cx="3657600" cy="41148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000" b="1">
                <a:solidFill>
                  <a:srgbClr val="141F34"/>
                </a:solidFill>
                <a:latin typeface="Aptos"/>
              </a:defRPr>
            </a:pPr>
            <a:r>
              <a:t>Sample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78308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2" y="1947672"/>
            <a:ext cx="351129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CLASS PROBABILITIES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2286000"/>
            <a:ext cx="351129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[0.0775, 0.9006]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2862072"/>
            <a:ext cx="351129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from the notebook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24612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410712"/>
            <a:ext cx="351129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PREDICTED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3749039"/>
            <a:ext cx="351129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325112"/>
            <a:ext cx="351129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argmax of probabilities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70916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4873752"/>
            <a:ext cx="351129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NOTEBOOK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5212080"/>
            <a:ext cx="351129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0805A"/>
                </a:solidFill>
                <a:latin typeface="Aptos"/>
              </a:defRPr>
            </a:pPr>
            <a:r>
              <a:t>Benign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5788152"/>
            <a:ext cx="351129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sample input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Prediction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737360" cy="2743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200" b="1">
                <a:solidFill>
                  <a:srgbClr val="2D67A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737360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600" b="1">
                <a:solidFill>
                  <a:srgbClr val="141F34"/>
                </a:solidFill>
                <a:latin typeface="Aptos"/>
              </a:defRPr>
            </a:pPr>
            <a:r>
              <a:t>30 feature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1828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993392"/>
            <a:ext cx="1737360" cy="2743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200" b="1">
                <a:solidFill>
                  <a:srgbClr val="2D67A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423160"/>
            <a:ext cx="1737360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600" b="1">
                <a:solidFill>
                  <a:srgbClr val="141F34"/>
                </a:solidFill>
                <a:latin typeface="Aptos"/>
              </a:defRPr>
            </a:pPr>
            <a:r>
              <a:t>StandardScaler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9783" y="1828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993392"/>
            <a:ext cx="1737360" cy="2743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200" b="1">
                <a:solidFill>
                  <a:srgbClr val="2D67A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2423160"/>
            <a:ext cx="1737360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600" b="1">
                <a:solidFill>
                  <a:srgbClr val="141F34"/>
                </a:solidFill>
                <a:latin typeface="Aptos"/>
              </a:defRPr>
            </a:pPr>
            <a:r>
              <a:t>Neural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7496" y="1828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34656" y="1993392"/>
            <a:ext cx="1737360" cy="2743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200" b="1">
                <a:solidFill>
                  <a:srgbClr val="2D67A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423160"/>
            <a:ext cx="1737360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600" b="1">
                <a:solidFill>
                  <a:srgbClr val="141F34"/>
                </a:solidFill>
                <a:latin typeface="Aptos"/>
              </a:defRPr>
            </a:pPr>
            <a:r>
              <a:t>Class probability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65208" y="1828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8" y="1993392"/>
            <a:ext cx="1737360" cy="2743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200" b="1">
                <a:solidFill>
                  <a:srgbClr val="2D67A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2423160"/>
            <a:ext cx="1737360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600" b="1">
                <a:solidFill>
                  <a:srgbClr val="141F34"/>
                </a:solidFill>
                <a:latin typeface="Aptos"/>
              </a:defRPr>
            </a:pPr>
            <a:r>
              <a:t>Argmax → class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0515600" cy="41148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800" b="1">
                <a:solidFill>
                  <a:srgbClr val="141F34"/>
                </a:solidFill>
                <a:latin typeface="Aptos"/>
              </a:defRPr>
            </a:pPr>
            <a:r>
              <a:t>This flow is implemented in the notebook's predictive-system section.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10515600" cy="10058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900" b="0">
                <a:solidFill>
                  <a:srgbClr val="23272D"/>
                </a:solidFill>
                <a:latin typeface="Aptos"/>
              </a:defRPr>
            </a:pPr>
            <a:r>
              <a:t>Input tuple → NumPy array → reshape to one record → standardize → model.predict() → np.argmax() → final class label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53312"/>
            <a:ext cx="287121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TRAINING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91640"/>
            <a:ext cx="287121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97.16%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287121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epoch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353312"/>
            <a:ext cx="287121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VALIDATION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691640"/>
            <a:ext cx="287121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D67AA"/>
                </a:solidFill>
                <a:latin typeface="Aptos"/>
              </a:defRPr>
            </a:pPr>
            <a:r>
              <a:t>95.65%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267712"/>
            <a:ext cx="287121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epoch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18872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353312"/>
            <a:ext cx="2871216" cy="292608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1">
                <a:solidFill>
                  <a:srgbClr val="5F6874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1691640"/>
            <a:ext cx="2871216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2500" b="1">
                <a:solidFill>
                  <a:srgbClr val="20805A"/>
                </a:solidFill>
                <a:latin typeface="Aptos"/>
              </a:defRPr>
            </a:pPr>
            <a:r>
              <a:t>96.49%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267712"/>
            <a:ext cx="2871216" cy="32004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100" b="0">
                <a:solidFill>
                  <a:srgbClr val="5F6874"/>
                </a:solidFill>
                <a:latin typeface="Aptos"/>
              </a:defRPr>
            </a:pPr>
            <a:r>
              <a:t>114 test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10424160" cy="41148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800" b="1">
                <a:solidFill>
                  <a:srgbClr val="141F34"/>
                </a:solidFill>
                <a:latin typeface="Aptos"/>
              </a:defRPr>
            </a:pPr>
            <a:r>
              <a:t>Recorded project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332720" cy="1645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569 records • 30 input features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455 training records • 114 testing records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10 training epochs • validation split 10%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20-neuron hidden layer with ReLU • 2-output layer with sigmoid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 t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966960" cy="36576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28016"/>
            <a:ext cx="640080" cy="320040"/>
          </a:xfrm>
          <a:prstGeom prst="rect">
            <a:avLst/>
          </a:prstGeom>
          <a:noFill/>
        </p:spPr>
        <p:txBody>
          <a:bodyPr wrap="none" bIns="36576" tIns="27432">
            <a:spAutoFit/>
          </a:bodyPr>
          <a:lstStyle/>
          <a:p>
            <a:pPr algn="r">
              <a:defRPr sz="1600">
                <a:solidFill>
                  <a:srgbClr val="BECDE1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120640" cy="36576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800" b="1">
                <a:solidFill>
                  <a:srgbClr val="141F34"/>
                </a:solidFill>
                <a:latin typeface="Aptos"/>
              </a:defRPr>
            </a:pPr>
            <a:r>
              <a:t>What was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303520" cy="320040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Dataset loaded and converted into a DataFrame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Features and target separated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Train-test split and StandardScaler applied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Neural Network built and trained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Accuracy/loss visualized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Test evaluation and sample prediction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05840"/>
            <a:ext cx="5120640" cy="36576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800" b="1">
                <a:solidFill>
                  <a:srgbClr val="141F34"/>
                </a:solidFill>
                <a:latin typeface="Aptos"/>
              </a:defRPr>
            </a:pPr>
            <a:r>
              <a:t>Possible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63040"/>
            <a:ext cx="5029200" cy="320040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Hyperparameter tuning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Compare additional classification algorithms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Add confusion matrix and classification report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Create a simple prediction interface</a:t>
            </a:r>
          </a:p>
          <a:p>
            <a:pPr>
              <a:spcAft>
                <a:spcPts val="800"/>
              </a:spcAft>
              <a:defRPr sz="1700">
                <a:solidFill>
                  <a:srgbClr val="23272D"/>
                </a:solidFill>
                <a:latin typeface="Aptos"/>
              </a:defRPr>
            </a:pPr>
            <a:r>
              <a:t>Evaluate on additional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332720" cy="50292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l">
              <a:defRPr sz="1300" b="0">
                <a:solidFill>
                  <a:srgbClr val="5F6874"/>
                </a:solidFill>
                <a:latin typeface="Aptos"/>
              </a:defRPr>
            </a:pPr>
            <a:r>
              <a:t>Educational ML project — the model output should not be treated as a clinical diagnosis.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97880"/>
            <a:ext cx="3017520" cy="365760"/>
          </a:xfrm>
          <a:prstGeom prst="rect">
            <a:avLst/>
          </a:prstGeom>
          <a:noFill/>
        </p:spPr>
        <p:txBody>
          <a:bodyPr wrap="square" bIns="36576" tIns="27432">
            <a:spAutoFit/>
          </a:bodyPr>
          <a:lstStyle/>
          <a:p>
            <a:pPr algn="ctr">
              <a:defRPr sz="2000" b="1">
                <a:solidFill>
                  <a:srgbClr val="141F34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